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294" r:id="rId15"/>
    <p:sldId id="296" r:id="rId1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82" d="100"/>
          <a:sy n="82" d="100"/>
        </p:scale>
        <p:origin x="393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A866D74C-B42B-421F-991B-DC8138906F81}" type="datetime1">
              <a:rPr lang="ru-RU" smtClean="0"/>
              <a:t>12.11.2025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AFF3A6F-DEFA-45E0-9496-BEE7C2C6F3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3D963EC9-D16A-42AB-8B8A-8FDEF0583346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F97DC217-DF71-1A49-B3EA-559F1F43B0F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C603-B34E-98A1-A810-C593DB8A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059EC4-EFF2-D523-84FA-9F7FE03ED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F791BE6-DB3A-D8DF-18E4-AD4995FE2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B9476F-2D14-3425-2861-A0797927B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3223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6F21-501F-033D-1A11-D76688DE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BF4BACF-BA3A-7F5D-E504-25E1B8004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BFA3351-A001-7BFC-EAF8-649F6393B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BC88B4-3059-3083-43B5-3AF3C6ACA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6089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4FAB0-BAC8-F33F-BED3-49522E371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6EE6B96-46F3-09BA-D4D9-C2F6AFF70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946AFD4-88FE-7EBA-6BFB-2E108A760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99427B-F854-E13F-347A-520C863E8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1981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A2E1-624A-2BE1-A3DF-83694B03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53E1433-000B-5BC6-EEC8-F607751BA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08889FF-AF9E-3E2F-BCBD-2C7F90F22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3A0FFD-3BD6-F66F-FD10-B00D1CB97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4354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D0C00-6525-D135-49CA-90363128E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AC7C87-0C30-36E5-128E-918F5947A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61ABAA-29FF-951F-23F6-2E15D0024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CD09CC-5AF1-22DF-E929-A2DB4417C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1162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5A2AD-E844-FDC6-3E84-B32BD8D0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AE3B73F-188C-006B-B68A-AA9B59795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A4034D-DBDB-2D38-83C4-425AF195A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97F7AD-8F27-3F96-ABF1-9C882E1EB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1253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833F5-2A4C-A781-5382-A51D1DE3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038696-BFCA-BC39-2D41-7067B5874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7C3A0D5-3B56-01CF-5DEF-FC70A9952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F25D9A-FE3A-C7B9-4C5E-CAC3E1951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3186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97E0-798B-590F-ADF6-BBE32651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151785-85BB-2699-46E0-B132C4DE9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3D8ABCF-FFFD-3BF3-D8F6-6352EA1FE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4C23EA-73EB-C118-1AF4-0DC6513DA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4960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Arial" panose="020B0604020202020204" pitchFamily="34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Полилиния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ru-RU" sz="60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ru-RU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Полилиния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ru-RU" sz="6000" b="1">
                <a:solidFill>
                  <a:schemeClr val="bg1"/>
                </a:solidFill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ru-RU" sz="32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 dirty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 с содержимы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ru-RU" sz="4200" b="1">
                <a:solidFill>
                  <a:schemeClr val="bg1"/>
                </a:solidFill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, содержимое и изображ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  <a:cs typeface="+mn-cs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347663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2pPr>
            <a:lvl3pPr marL="68580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3pPr>
            <a:lvl4pPr marL="91440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4pPr>
            <a:lvl5pPr marL="114300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 rtlCol="0"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Диаграмма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ru-RU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Полилиния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ru-RU" sz="60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ru-RU" sz="2800">
                <a:latin typeface="Arial" panose="020B0604020202020204" pitchFamily="34" charset="0"/>
                <a:cs typeface="+mn-cs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tx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tx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tx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6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ru-RU"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adamovich1986@gmail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209" y="1086465"/>
            <a:ext cx="9215372" cy="302156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Муниципальные парадоксы: когда потребление говорит громче зарплат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51398-AA76-3EC4-65E9-89625BC64146}"/>
              </a:ext>
            </a:extLst>
          </p:cNvPr>
          <p:cNvSpPr txBox="1"/>
          <p:nvPr/>
        </p:nvSpPr>
        <p:spPr>
          <a:xfrm>
            <a:off x="2340077" y="4591665"/>
            <a:ext cx="7816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Анализ доли безналичных трат от зарплаты и кластеризация муниципалитетов по потребительскому поведению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79982-83EB-5E34-ABAE-5A49FABE5FC2}"/>
              </a:ext>
            </a:extLst>
          </p:cNvPr>
          <p:cNvSpPr txBox="1"/>
          <p:nvPr/>
        </p:nvSpPr>
        <p:spPr>
          <a:xfrm>
            <a:off x="2340077" y="6037196"/>
            <a:ext cx="7285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Автор:</a:t>
            </a:r>
            <a:r>
              <a:rPr lang="ru-RU" dirty="0"/>
              <a:t> Олег Адамович</a:t>
            </a:r>
            <a:br>
              <a:rPr lang="ru-RU" dirty="0"/>
            </a:br>
            <a:r>
              <a:rPr lang="ru-RU" b="1" dirty="0"/>
              <a:t>Хакатон:</a:t>
            </a:r>
            <a:r>
              <a:rPr lang="ru-RU" dirty="0"/>
              <a:t> «Муниципальный код»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Зачем я это исследовал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28C0FE-A295-B09C-CB71-DF3B06FA54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142" y="2677125"/>
            <a:ext cx="692190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Цель:  выявить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аномалии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данных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СберИндекса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где поведение жителей расходится с официальными доходами.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 аномалиями понимаются случаи, где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потребительские паттерны не соответствуют уровню зарплат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Использованы: данные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СберИндекса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Росстата и сайта </a:t>
            </a:r>
            <a:r>
              <a:rPr kumimoji="0" lang="ru-RU" altLang="ru-RU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«Если быть точным».</a:t>
            </a:r>
            <a:br>
              <a:rPr kumimoji="0" lang="ru-RU" altLang="ru-RU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497F48-A8C7-B452-0253-D8007F69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309" y="729750"/>
            <a:ext cx="2912938" cy="436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E441-C0D0-C7CB-5BCC-24ADA574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246C3-B50B-0353-7690-3B78E7EDF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839" y="363794"/>
            <a:ext cx="5250426" cy="63909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Что я использовал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A3B0C96-EAD9-6384-136D-D7313E8E5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6813" y="957301"/>
            <a:ext cx="5781368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Данные о 2190 муниципалитетах России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Период: январь 2023 – декабрь 2024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090A1-80A6-9616-7816-204BB1A8CA2E}"/>
              </a:ext>
            </a:extLst>
          </p:cNvPr>
          <p:cNvSpPr txBox="1"/>
          <p:nvPr/>
        </p:nvSpPr>
        <p:spPr>
          <a:xfrm>
            <a:off x="540775" y="5385059"/>
            <a:ext cx="74233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>
                <a:cs typeface="Arial" panose="020B0604020202020204" pitchFamily="34" charset="0"/>
              </a:rPr>
              <a:t>Регионы, для которых </a:t>
            </a:r>
            <a:r>
              <a:rPr lang="ru-RU" altLang="ru-RU" sz="1600" b="1" dirty="0">
                <a:cs typeface="Arial" panose="020B0604020202020204" pitchFamily="34" charset="0"/>
              </a:rPr>
              <a:t>нет данных о расходах</a:t>
            </a:r>
            <a:r>
              <a:rPr lang="ru-RU" altLang="ru-RU" sz="1600" dirty="0">
                <a:cs typeface="Arial" panose="020B0604020202020204" pitchFamily="34" charset="0"/>
              </a:rPr>
              <a:t>, и которые не участвовали в исследовании: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cs typeface="Arial" panose="020B0604020202020204" pitchFamily="34" charset="0"/>
              </a:rPr>
              <a:t>Белгородская область, Брянская область, Воронежская область, Краснодарский край, Курская область, республика Крым, Ростовская область, Севастополь.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0E6C7917-EE04-7145-FA26-2A4A38C68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126645"/>
              </p:ext>
            </p:extLst>
          </p:nvPr>
        </p:nvGraphicFramePr>
        <p:xfrm>
          <a:off x="186813" y="2381173"/>
          <a:ext cx="10451690" cy="294904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05858">
                  <a:extLst>
                    <a:ext uri="{9D8B030D-6E8A-4147-A177-3AD203B41FA5}">
                      <a16:colId xmlns:a16="http://schemas.microsoft.com/office/drawing/2014/main" val="2567140339"/>
                    </a:ext>
                  </a:extLst>
                </a:gridCol>
                <a:gridCol w="3339365">
                  <a:extLst>
                    <a:ext uri="{9D8B030D-6E8A-4147-A177-3AD203B41FA5}">
                      <a16:colId xmlns:a16="http://schemas.microsoft.com/office/drawing/2014/main" val="2230904048"/>
                    </a:ext>
                  </a:extLst>
                </a:gridCol>
                <a:gridCol w="4606467">
                  <a:extLst>
                    <a:ext uri="{9D8B030D-6E8A-4147-A177-3AD203B41FA5}">
                      <a16:colId xmlns:a16="http://schemas.microsoft.com/office/drawing/2014/main" val="124580880"/>
                    </a:ext>
                  </a:extLst>
                </a:gridCol>
              </a:tblGrid>
              <a:tr h="340326">
                <a:tc>
                  <a:txBody>
                    <a:bodyPr/>
                    <a:lstStyle/>
                    <a:p>
                      <a:r>
                        <a:rPr lang="ru-RU" sz="1400" dirty="0"/>
                        <a:t>Источник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Тип данных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Примеры показателей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084322"/>
                  </a:ext>
                </a:extLst>
              </a:tr>
              <a:tr h="578554">
                <a:tc>
                  <a:txBody>
                    <a:bodyPr/>
                    <a:lstStyle/>
                    <a:p>
                      <a:r>
                        <a:rPr lang="ru-RU" sz="1600" dirty="0" err="1"/>
                        <a:t>СберИндекс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Безналичные траты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Продовольствие, рестораны, транспорт, медицина, маркетплейсы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185389"/>
                  </a:ext>
                </a:extLst>
              </a:tr>
              <a:tr h="578554">
                <a:tc>
                  <a:txBody>
                    <a:bodyPr/>
                    <a:lstStyle/>
                    <a:p>
                      <a:r>
                        <a:rPr lang="ru-RU" sz="1600" dirty="0"/>
                        <a:t>Росстат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Социально-экономические параметры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Реальные зарплаты, численность, урбанизация, миграция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44405"/>
                  </a:ext>
                </a:extLst>
              </a:tr>
              <a:tr h="630642">
                <a:tc>
                  <a:txBody>
                    <a:bodyPr/>
                    <a:lstStyle/>
                    <a:p>
                      <a:r>
                        <a:rPr lang="ru-RU" sz="1600" dirty="0"/>
                        <a:t>Если быть точным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Муниципальная статика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Расходы на экологию, разрешения на строительство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601470"/>
                  </a:ext>
                </a:extLst>
              </a:tr>
              <a:tr h="819835">
                <a:tc>
                  <a:txBody>
                    <a:bodyPr/>
                    <a:lstStyle/>
                    <a:p>
                      <a:r>
                        <a:rPr lang="ru-RU" sz="1600" dirty="0"/>
                        <a:t>Собственная обработка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Аналитические переменные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Кластеры, квартильные группы, стандартизированные показатели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826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03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4952-D683-89EC-BFCB-1C17C1066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F894A2-3CC1-B976-52C7-748686C54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61" y="379399"/>
            <a:ext cx="10142376" cy="107199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Как живут и тратят муниципалитеты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CD1959-CA24-3C28-108D-398CA6985B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142" y="3501011"/>
            <a:ext cx="17796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9210C0-E373-2783-A4DF-EF09F9ACF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42" y="1841635"/>
            <a:ext cx="5412664" cy="316486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55E2EF-84BA-7C01-2EBB-76CB3B1A9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437" y="3050592"/>
            <a:ext cx="5408795" cy="3312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AE1C3D-0E0D-22D2-9F94-C68DF02D8906}"/>
              </a:ext>
            </a:extLst>
          </p:cNvPr>
          <p:cNvSpPr txBox="1"/>
          <p:nvPr/>
        </p:nvSpPr>
        <p:spPr>
          <a:xfrm>
            <a:off x="113070" y="5226784"/>
            <a:ext cx="56388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ru-RU" sz="1600" dirty="0"/>
              <a:t>Зарплаты большинства муниципалитетов сосредоточены вокруг среднего уровня благосостояния (50-60 тыс. руб.), но есть территории с высокими зарплатами, </a:t>
            </a:r>
            <a:r>
              <a:rPr lang="ru-RU" sz="1600" dirty="0" err="1"/>
              <a:t>коорые</a:t>
            </a:r>
            <a:r>
              <a:rPr lang="ru-RU" sz="1600" dirty="0"/>
              <a:t> формирую длинных «хвост» справа.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A1B92-B58C-D288-C9D0-9AFBE73D44C2}"/>
              </a:ext>
            </a:extLst>
          </p:cNvPr>
          <p:cNvSpPr txBox="1"/>
          <p:nvPr/>
        </p:nvSpPr>
        <p:spPr>
          <a:xfrm>
            <a:off x="5926952" y="2116016"/>
            <a:ext cx="60389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ru-RU" sz="1600" dirty="0"/>
              <a:t>В 2024 году безналичные траты выросли не только в среднем, но и распространились на большее число муниципалитетов — всё больше территорий тратит выше среднего уровня.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10" name="Стрелка: вверх 9">
            <a:extLst>
              <a:ext uri="{FF2B5EF4-FFF2-40B4-BE49-F238E27FC236}">
                <a16:creationId xmlns:a16="http://schemas.microsoft.com/office/drawing/2014/main" id="{6774CAEC-7CB0-7AAE-7FCC-7EC5AD5A213D}"/>
              </a:ext>
            </a:extLst>
          </p:cNvPr>
          <p:cNvSpPr/>
          <p:nvPr/>
        </p:nvSpPr>
        <p:spPr>
          <a:xfrm rot="18989852">
            <a:off x="5181180" y="4811249"/>
            <a:ext cx="242839" cy="44077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64598515-3239-5263-85B0-67703B3A14BD}"/>
              </a:ext>
            </a:extLst>
          </p:cNvPr>
          <p:cNvSpPr/>
          <p:nvPr/>
        </p:nvSpPr>
        <p:spPr>
          <a:xfrm rot="1786444">
            <a:off x="11362561" y="2833740"/>
            <a:ext cx="228147" cy="4804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80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408CE-3C83-3C37-C6BC-D13D3D31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9ED9E-4A29-2AEB-485C-602B458B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61" y="557391"/>
            <a:ext cx="10491321" cy="74586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Кто тратит больше, чем зарабатывает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E24DE0-56FF-299B-CACF-4716790012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142" y="3501011"/>
            <a:ext cx="17796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EE8890-2439-FB8C-177E-6CFA0E4C7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746" y="1694465"/>
            <a:ext cx="7357977" cy="51635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FAF79F-6F04-7C21-82A9-14547158D2D1}"/>
              </a:ext>
            </a:extLst>
          </p:cNvPr>
          <p:cNvSpPr txBox="1"/>
          <p:nvPr/>
        </p:nvSpPr>
        <p:spPr>
          <a:xfrm>
            <a:off x="319310" y="1598576"/>
            <a:ext cx="397146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b="1" dirty="0"/>
              <a:t>Парадокс</a:t>
            </a:r>
            <a:r>
              <a:rPr lang="ru-RU" dirty="0"/>
              <a:t>: в самых богатых муниципалитетах доля безналичных трат от зарплаты — наименьшая.</a:t>
            </a:r>
            <a:endParaRPr lang="ru-RU" altLang="ru-RU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График</a:t>
            </a:r>
            <a:r>
              <a:rPr lang="ru-RU" altLang="ru-RU" b="1" dirty="0">
                <a:latin typeface="Arial" panose="020B0604020202020204" pitchFamily="34" charset="0"/>
              </a:rPr>
              <a:t> </a:t>
            </a:r>
            <a:r>
              <a:rPr lang="ru-RU" altLang="ru-RU" b="1" dirty="0"/>
              <a:t>выявил аномалии</a:t>
            </a:r>
            <a:r>
              <a:rPr lang="ru-RU" altLang="ru-RU" dirty="0"/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два муниципалитета, где тратят больше зарплаты: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Псковский район </a:t>
            </a:r>
            <a:r>
              <a:rPr lang="ru-RU" altLang="ru-RU" dirty="0"/>
              <a:t>- в декабре 2023 траты = 100,7% от зарплаты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Солнечногорск - </a:t>
            </a:r>
            <a:r>
              <a:rPr lang="ru-RU" altLang="ru-RU" dirty="0"/>
              <a:t>два года подряд в 4 месяцах траты больше зарплат.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Возможные причины: </a:t>
            </a:r>
            <a:r>
              <a:rPr lang="ru-RU" altLang="ru-RU" dirty="0"/>
              <a:t>маятниковая миграция, неучтённые доходы, сезонность.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150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2E933-C83D-B9C3-0CBF-69B3E091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4B98F-268B-FC90-009D-6E7B03F5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61" y="557391"/>
            <a:ext cx="10202072" cy="74586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Социально-экономический контекст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737718-F280-CC8A-2718-9363DADC1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142" y="3501011"/>
            <a:ext cx="17796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48332-72EB-2099-C0ED-C9B6DE2D812B}"/>
              </a:ext>
            </a:extLst>
          </p:cNvPr>
          <p:cNvSpPr txBox="1"/>
          <p:nvPr/>
        </p:nvSpPr>
        <p:spPr>
          <a:xfrm>
            <a:off x="226142" y="4993251"/>
            <a:ext cx="111572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ru-RU" dirty="0"/>
              <a:t>Традиционный подход подтверждает очевидное: богатые муниципалитеты имеют лучшие показатели по всем параметрам, а бедные — отстают. Это ожидаемо, но не раскрывает всей картины.</a:t>
            </a:r>
          </a:p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34E02B-D49E-33F1-B825-34F44B895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42" y="1546860"/>
            <a:ext cx="11616612" cy="3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59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21ADB-962B-5139-A2A0-97C6F4540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8CCEF-EDA4-10E6-B78E-BB7780CE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61" y="557391"/>
            <a:ext cx="8429255" cy="74586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Три модели потребления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E6A81B-38CF-9359-B35A-6D6B9756DA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142" y="3501011"/>
            <a:ext cx="17796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8791B-8B5E-7516-6904-73EF5C0A5CF5}"/>
              </a:ext>
            </a:extLst>
          </p:cNvPr>
          <p:cNvSpPr txBox="1"/>
          <p:nvPr/>
        </p:nvSpPr>
        <p:spPr>
          <a:xfrm>
            <a:off x="226142" y="4970056"/>
            <a:ext cx="1115720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ru-RU" sz="1400" dirty="0"/>
              <a:t>При помощи кластеризации </a:t>
            </a:r>
            <a:r>
              <a:rPr lang="en-US" sz="1400" dirty="0"/>
              <a:t>K-means </a:t>
            </a:r>
            <a:r>
              <a:rPr lang="ru-RU" sz="1400" dirty="0"/>
              <a:t>были получены три типа потребительского поведения:</a:t>
            </a:r>
          </a:p>
          <a:p>
            <a:pPr latinLnBrk="1"/>
            <a:endParaRPr lang="ru-RU" sz="1400" dirty="0"/>
          </a:p>
          <a:p>
            <a:pPr latinLnBrk="1"/>
            <a:r>
              <a:rPr lang="ru-RU" sz="1400" b="1" dirty="0"/>
              <a:t>1 кластер</a:t>
            </a:r>
            <a:r>
              <a:rPr lang="ru-RU" sz="1400" dirty="0"/>
              <a:t>. Сдержанное потребление (763 МО) — траты по всем категориям близки к средним.</a:t>
            </a:r>
          </a:p>
          <a:p>
            <a:pPr latinLnBrk="1"/>
            <a:r>
              <a:rPr lang="ru-RU" sz="1400" b="1" dirty="0"/>
              <a:t>2 кластер. </a:t>
            </a:r>
            <a:r>
              <a:rPr lang="ru-RU" sz="1400" dirty="0"/>
              <a:t>Товарное потребление (917 МО) — акцент на маркетплейсы + продукты  </a:t>
            </a:r>
          </a:p>
          <a:p>
            <a:pPr latinLnBrk="1"/>
            <a:r>
              <a:rPr lang="ru-RU" sz="1400" b="1" dirty="0"/>
              <a:t>3 кластер. </a:t>
            </a:r>
            <a:r>
              <a:rPr lang="ru-RU" sz="1400" dirty="0"/>
              <a:t>Сервисная экономика (510 МО) — транспорт, кафе, медицина вместо продуктов</a:t>
            </a:r>
          </a:p>
          <a:p>
            <a:pPr latinLnBrk="1"/>
            <a:endParaRPr lang="ru-RU" sz="1400" dirty="0"/>
          </a:p>
          <a:p>
            <a:pPr latinLnBrk="1"/>
            <a:r>
              <a:rPr lang="ru-RU" sz="1400" b="1" dirty="0"/>
              <a:t>Ключевой инсайт: </a:t>
            </a:r>
            <a:r>
              <a:rPr lang="ru-RU" sz="1400" dirty="0"/>
              <a:t>структура трат отражает уровень развития </a:t>
            </a:r>
          </a:p>
          <a:p>
            <a:pPr latinLnBrk="1"/>
            <a:r>
              <a:rPr lang="ru-RU" sz="1400" dirty="0"/>
              <a:t>территории — от выживания к комфорту.</a:t>
            </a:r>
          </a:p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979C52-8DD0-3C61-3C6F-8443BA7FF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3099"/>
            <a:ext cx="5804744" cy="334695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B978A2-13C8-70BA-1C1C-9736A6A73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430" y="1508530"/>
            <a:ext cx="5940425" cy="293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0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162C-9C96-0D8B-FEDE-03D4A0C0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C8FDA-748F-4834-2C29-47492AD3D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61" y="557391"/>
            <a:ext cx="10472659" cy="109412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Когда доход и потребительское поведение не совпадают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A27F25-201B-60DD-41D8-64B342058F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142" y="3501011"/>
            <a:ext cx="17796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68E8B-FBF8-0BB0-3717-D1960933B59F}"/>
              </a:ext>
            </a:extLst>
          </p:cNvPr>
          <p:cNvSpPr txBox="1"/>
          <p:nvPr/>
        </p:nvSpPr>
        <p:spPr>
          <a:xfrm>
            <a:off x="475862" y="2021961"/>
            <a:ext cx="11100320" cy="304698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atinLnBrk="1"/>
            <a:r>
              <a:rPr lang="ru-RU" sz="1600" b="1" dirty="0"/>
              <a:t>«Бедные с богатым мышлением»:</a:t>
            </a:r>
          </a:p>
          <a:p>
            <a:pPr latinLnBrk="1"/>
            <a:r>
              <a:rPr lang="ru-RU" sz="1600" dirty="0"/>
              <a:t>• Густонаселенные сельские районы</a:t>
            </a:r>
          </a:p>
          <a:p>
            <a:pPr latinLnBrk="1"/>
            <a:r>
              <a:rPr lang="ru-RU" sz="1600" dirty="0"/>
              <a:t>• Мощный миграционный приток (+246% по женщинам)</a:t>
            </a:r>
          </a:p>
          <a:p>
            <a:pPr latinLnBrk="1"/>
            <a:r>
              <a:rPr lang="ru-RU" sz="1600" dirty="0"/>
              <a:t>• Активное строительство (+15% к среднему)</a:t>
            </a:r>
          </a:p>
          <a:p>
            <a:pPr latinLnBrk="1"/>
            <a:r>
              <a:rPr lang="ru-RU" sz="1600" dirty="0"/>
              <a:t>• Тратят как богатые, зарабатывают как бедные</a:t>
            </a:r>
          </a:p>
          <a:p>
            <a:pPr latinLnBrk="1"/>
            <a:endParaRPr lang="ru-RU" sz="1600" dirty="0"/>
          </a:p>
          <a:p>
            <a:pPr latinLnBrk="1"/>
            <a:endParaRPr lang="ru-RU" sz="1600" dirty="0"/>
          </a:p>
          <a:p>
            <a:pPr latinLnBrk="1"/>
            <a:endParaRPr lang="ru-RU" sz="1600" dirty="0"/>
          </a:p>
          <a:p>
            <a:pPr latinLnBrk="1"/>
            <a:endParaRPr lang="ru-RU" sz="1600" dirty="0"/>
          </a:p>
          <a:p>
            <a:pPr latinLnBrk="1"/>
            <a:endParaRPr lang="ru-RU" sz="1600" dirty="0"/>
          </a:p>
          <a:p>
            <a:pPr latinLnBrk="1"/>
            <a:endParaRPr lang="ru-RU" sz="1600" dirty="0"/>
          </a:p>
          <a:p>
            <a:pPr latinLnBrk="1"/>
            <a:endParaRPr lang="ru-RU" sz="1600" dirty="0"/>
          </a:p>
          <a:p>
            <a:pPr latinLnBrk="1"/>
            <a:r>
              <a:rPr lang="ru-RU" sz="1600" b="1" dirty="0"/>
              <a:t>«Богатые с бедным мышлением»:</a:t>
            </a:r>
          </a:p>
          <a:p>
            <a:pPr latinLnBrk="1"/>
            <a:r>
              <a:rPr lang="ru-RU" sz="1600" dirty="0"/>
              <a:t>• Малонаселенные города  </a:t>
            </a:r>
          </a:p>
          <a:p>
            <a:pPr latinLnBrk="1"/>
            <a:r>
              <a:rPr lang="ru-RU" sz="1600" dirty="0"/>
              <a:t>• Отток населения</a:t>
            </a:r>
          </a:p>
          <a:p>
            <a:pPr latinLnBrk="1"/>
            <a:r>
              <a:rPr lang="ru-RU" sz="1600" dirty="0"/>
              <a:t>• Потребляют скромно, несмотря на зарплаты выше </a:t>
            </a:r>
          </a:p>
          <a:p>
            <a:pPr latinLnBrk="1"/>
            <a:r>
              <a:rPr lang="ru-RU" sz="1600" dirty="0"/>
              <a:t>средних.</a:t>
            </a:r>
          </a:p>
          <a:p>
            <a:br>
              <a:rPr lang="ru-RU" sz="1600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A44BB-C824-4633-E75C-6FF417B8525F}"/>
              </a:ext>
            </a:extLst>
          </p:cNvPr>
          <p:cNvSpPr txBox="1"/>
          <p:nvPr/>
        </p:nvSpPr>
        <p:spPr>
          <a:xfrm>
            <a:off x="475862" y="1599093"/>
            <a:ext cx="104726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ru-RU" sz="1600" b="1" dirty="0"/>
              <a:t>Главное открытие</a:t>
            </a:r>
            <a:r>
              <a:rPr lang="ru-RU" sz="1600" dirty="0"/>
              <a:t>: обнаружены муниципалитеты-«аномалии»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6145E8D-22A0-014A-E095-40DFEBDE8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1453" y="3428999"/>
            <a:ext cx="2250013" cy="2991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0FDBD9-948D-442C-642F-24E76AA0B672}"/>
              </a:ext>
            </a:extLst>
          </p:cNvPr>
          <p:cNvSpPr txBox="1"/>
          <p:nvPr/>
        </p:nvSpPr>
        <p:spPr>
          <a:xfrm>
            <a:off x="9097348" y="3271328"/>
            <a:ext cx="23606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Поселение </a:t>
            </a:r>
            <a:r>
              <a:rPr lang="ru-RU" sz="1600" dirty="0" err="1"/>
              <a:t>Роговское</a:t>
            </a:r>
            <a:r>
              <a:rPr lang="ru-RU" sz="1600" dirty="0"/>
              <a:t> – часть новой Москвы. По статистике, тут </a:t>
            </a:r>
            <a:r>
              <a:rPr lang="ru-RU" sz="1600" dirty="0" err="1"/>
              <a:t>среднемосковские</a:t>
            </a:r>
            <a:r>
              <a:rPr lang="ru-RU" sz="1600" dirty="0"/>
              <a:t> зарплаты. Но анализ потребления говорит, что люди живут даже беднее, чем в среднем по стране.</a:t>
            </a:r>
          </a:p>
        </p:txBody>
      </p:sp>
      <p:sp>
        <p:nvSpPr>
          <p:cNvPr id="11" name="Стрелка: влево 10">
            <a:extLst>
              <a:ext uri="{FF2B5EF4-FFF2-40B4-BE49-F238E27FC236}">
                <a16:creationId xmlns:a16="http://schemas.microsoft.com/office/drawing/2014/main" id="{1D0D3C59-6797-CF7C-6E54-F4BD83B9EF0B}"/>
              </a:ext>
            </a:extLst>
          </p:cNvPr>
          <p:cNvSpPr/>
          <p:nvPr/>
        </p:nvSpPr>
        <p:spPr>
          <a:xfrm>
            <a:off x="8372645" y="5219272"/>
            <a:ext cx="577642" cy="31490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4247323-6B6F-8AB4-4B3C-64548C5C8C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862" y="3554080"/>
            <a:ext cx="2688123" cy="29273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90E63B-8D94-EB4B-2F08-A62FF2889E0D}"/>
              </a:ext>
            </a:extLst>
          </p:cNvPr>
          <p:cNvSpPr txBox="1"/>
          <p:nvPr/>
        </p:nvSpPr>
        <p:spPr>
          <a:xfrm>
            <a:off x="3442544" y="3428999"/>
            <a:ext cx="268812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Дигорский муниципальный район Северной Осетии занят горами и полями. Но потребительское поведение тут, как в крупных городах.</a:t>
            </a:r>
          </a:p>
          <a:p>
            <a:r>
              <a:rPr lang="ru-RU" sz="1600" dirty="0"/>
              <a:t>Допускаем, что статистика учитывает не все доходы – возможно, 4 спиртовых завода в районе имеют к этому отношение. </a:t>
            </a:r>
          </a:p>
        </p:txBody>
      </p:sp>
      <p:sp>
        <p:nvSpPr>
          <p:cNvPr id="16" name="Стрелка: влево 15">
            <a:extLst>
              <a:ext uri="{FF2B5EF4-FFF2-40B4-BE49-F238E27FC236}">
                <a16:creationId xmlns:a16="http://schemas.microsoft.com/office/drawing/2014/main" id="{07D4D792-7006-7B40-C699-95C45DFAEA77}"/>
              </a:ext>
            </a:extLst>
          </p:cNvPr>
          <p:cNvSpPr/>
          <p:nvPr/>
        </p:nvSpPr>
        <p:spPr>
          <a:xfrm>
            <a:off x="2666791" y="5017763"/>
            <a:ext cx="644255" cy="2799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43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3E0AA-630F-266A-D9D7-58F9A39F5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1E5CCB-38C8-C863-D695-ADD292142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638" y="0"/>
            <a:ext cx="8429255" cy="74586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Изменение структуры трат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CD586D-62B5-47C2-6E37-300A49B49D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4721" y="6020277"/>
            <a:ext cx="17796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C1673-B2A2-CBAB-A79C-E9828C46758F}"/>
              </a:ext>
            </a:extLst>
          </p:cNvPr>
          <p:cNvSpPr txBox="1"/>
          <p:nvPr/>
        </p:nvSpPr>
        <p:spPr>
          <a:xfrm>
            <a:off x="7308979" y="937661"/>
            <a:ext cx="40183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Маркетплейсы – единственная категория безналичных трат, доля которой в средней зарплате растет у всех кластеров.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Доля трат на здоровье растет только у обеспеченного кластера 2, а у остальных снижаются.</a:t>
            </a:r>
          </a:p>
          <a:p>
            <a:endParaRPr lang="ru-RU" dirty="0"/>
          </a:p>
          <a:p>
            <a:r>
              <a:rPr lang="ru-RU" dirty="0"/>
              <a:t>Доля трат на продовольствие у всех постепенно снижается, кроме кластера 2, у которого она самая низкая и стабильная. 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BFE4D2-7D1B-FAA0-BA90-649324B31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2" y="745866"/>
            <a:ext cx="6955971" cy="20760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01BD36-E0CD-9342-5226-B33E951C9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3" y="2796523"/>
            <a:ext cx="7039947" cy="207638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37A5A3-F104-B376-58BB-ACB4BC603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82" y="4839645"/>
            <a:ext cx="7039947" cy="201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6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F2A8-24DC-6FEA-94A4-143CE042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01BA3-2CC3-B8A1-24FD-73A06CB7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638" y="0"/>
            <a:ext cx="10248725" cy="78377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Что реально влияет на долю безнала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1FB078-9F2E-BD19-905C-F423875BA5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4721" y="6020277"/>
            <a:ext cx="17796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1312C-1B1D-1E48-C209-3FFC88E6ED3B}"/>
              </a:ext>
            </a:extLst>
          </p:cNvPr>
          <p:cNvSpPr txBox="1"/>
          <p:nvPr/>
        </p:nvSpPr>
        <p:spPr>
          <a:xfrm>
            <a:off x="7007289" y="1240971"/>
            <a:ext cx="5086388" cy="4117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ru-RU" sz="1600" dirty="0"/>
              <a:t>📈 Что увеличивает долю безнала:</a:t>
            </a:r>
          </a:p>
          <a:p>
            <a:pPr latinLnBrk="1"/>
            <a:r>
              <a:rPr lang="ru-RU" sz="1600" dirty="0"/>
              <a:t>• Урбанизация (+)</a:t>
            </a:r>
          </a:p>
          <a:p>
            <a:pPr latinLnBrk="1"/>
            <a:r>
              <a:rPr lang="ru-RU" sz="1600" dirty="0"/>
              <a:t>• Рост населения (+)</a:t>
            </a:r>
          </a:p>
          <a:p>
            <a:pPr latinLnBrk="1"/>
            <a:r>
              <a:rPr lang="ru-RU" sz="1600" dirty="0"/>
              <a:t>• Миграционный приток (+)</a:t>
            </a:r>
          </a:p>
          <a:p>
            <a:pPr latinLnBrk="1"/>
            <a:r>
              <a:rPr lang="ru-RU" sz="1600" dirty="0"/>
              <a:t>• Строительная активность (+)</a:t>
            </a:r>
          </a:p>
          <a:p>
            <a:pPr latinLnBrk="1"/>
            <a:r>
              <a:rPr lang="ru-RU" sz="1600" dirty="0"/>
              <a:t>• Доступность рынков (+)</a:t>
            </a:r>
          </a:p>
          <a:p>
            <a:pPr latinLnBrk="1"/>
            <a:endParaRPr lang="ru-RU" sz="1600" dirty="0"/>
          </a:p>
          <a:p>
            <a:pPr latinLnBrk="1"/>
            <a:r>
              <a:rPr lang="ru-RU" sz="1600" dirty="0"/>
              <a:t>📉 Что снижает:</a:t>
            </a:r>
          </a:p>
          <a:p>
            <a:pPr latinLnBrk="1"/>
            <a:r>
              <a:rPr lang="ru-RU" sz="1600" dirty="0"/>
              <a:t>• Рост реальных зарплат (сильнейший негативный эффект)</a:t>
            </a:r>
          </a:p>
          <a:p>
            <a:pPr latinLnBrk="1"/>
            <a:r>
              <a:rPr lang="ru-RU" sz="1600" dirty="0"/>
              <a:t>• Расходы на экологию</a:t>
            </a:r>
          </a:p>
          <a:p>
            <a:pPr latinLnBrk="1"/>
            <a:endParaRPr lang="ru-RU" sz="1600" dirty="0"/>
          </a:p>
          <a:p>
            <a:pPr latinLnBrk="1"/>
            <a:r>
              <a:rPr lang="ru-RU" sz="1600" dirty="0"/>
              <a:t>❌ Что не влияет статистически:</a:t>
            </a:r>
          </a:p>
          <a:p>
            <a:pPr latinLnBrk="1"/>
            <a:r>
              <a:rPr lang="ru-RU" sz="1600" dirty="0"/>
              <a:t>• Состояние дорог</a:t>
            </a:r>
            <a:br>
              <a:rPr lang="ru-RU" sz="1600" dirty="0"/>
            </a:br>
            <a:br>
              <a:rPr lang="ru-RU" dirty="0"/>
            </a:b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14F3D1-1CBE-21B7-BC1E-E211D2DD5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22" y="1016836"/>
            <a:ext cx="6345426" cy="3797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FAA398-DAE9-F252-EE05-9EB26DCBC30E}"/>
              </a:ext>
            </a:extLst>
          </p:cNvPr>
          <p:cNvSpPr txBox="1"/>
          <p:nvPr/>
        </p:nvSpPr>
        <p:spPr>
          <a:xfrm>
            <a:off x="653142" y="4958448"/>
            <a:ext cx="1024872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ru-RU" sz="1600" dirty="0"/>
              <a:t>➡️ Главный вывод: максимальная доля безналичных платежей не в столицах, а в развивающихся городах-«середняках», где высокая урбанизация сочетается с умеренными зарплатами.</a:t>
            </a:r>
          </a:p>
          <a:p>
            <a:pPr latinLnBrk="1"/>
            <a:endParaRPr lang="ru-RU" sz="1600" dirty="0"/>
          </a:p>
          <a:p>
            <a:pPr latinLnBrk="1"/>
            <a:r>
              <a:rPr lang="ru-RU" sz="1600" dirty="0"/>
              <a:t>Модель объясняет 43% вариации — очень высокий показатель </a:t>
            </a:r>
          </a:p>
          <a:p>
            <a:pPr latinLnBrk="1"/>
            <a:r>
              <a:rPr lang="ru-RU" sz="1600" dirty="0"/>
              <a:t>для социально-экономических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05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488" y="531845"/>
            <a:ext cx="5943599" cy="110847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Почему это важно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C7FC500-BBFB-3AA4-BEDE-038CB94FFF61}"/>
              </a:ext>
            </a:extLst>
          </p:cNvPr>
          <p:cNvSpPr>
            <a:spLocks noGrp="1" noChangeAspect="1"/>
          </p:cNvSpPr>
          <p:nvPr>
            <p:ph idx="17"/>
          </p:nvPr>
        </p:nvSpPr>
        <p:spPr>
          <a:xfrm>
            <a:off x="832439" y="752047"/>
            <a:ext cx="4297680" cy="4297680"/>
          </a:xfrm>
        </p:spPr>
        <p:txBody>
          <a:bodyPr rtlCol="0"/>
          <a:lstStyle>
            <a:defPPr>
              <a:defRPr lang="ru-RU"/>
            </a:defPPr>
          </a:lstStyle>
          <a:p>
            <a:endParaRPr lang="ru-RU" sz="1800" b="1" dirty="0"/>
          </a:p>
          <a:p>
            <a:r>
              <a:rPr lang="ru-RU" sz="1800" b="1" dirty="0"/>
              <a:t>Потребительское поведение </a:t>
            </a:r>
            <a:r>
              <a:rPr lang="ru-RU" sz="1800" dirty="0"/>
              <a:t>показывает скрытые различия между муниципалитетами и уровень цифровизации потребления.</a:t>
            </a:r>
            <a:br>
              <a:rPr lang="ru-RU" sz="1800" dirty="0"/>
            </a:br>
            <a:endParaRPr lang="ru-RU" sz="1800" dirty="0"/>
          </a:p>
          <a:p>
            <a:r>
              <a:rPr lang="ru-RU" sz="1800" b="1" dirty="0"/>
              <a:t>Безналичные траты </a:t>
            </a:r>
            <a:r>
              <a:rPr lang="ru-RU" sz="1800" dirty="0"/>
              <a:t>— новый индикатор качества жизни и реального развития территорий.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488" y="2062876"/>
            <a:ext cx="5943600" cy="3382962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sz="1900" b="1" dirty="0"/>
              <a:t>Главные выводы:</a:t>
            </a:r>
          </a:p>
          <a:p>
            <a:pPr marL="0" indent="0">
              <a:buNone/>
            </a:pPr>
            <a:r>
              <a:rPr lang="ru-RU" sz="1900" b="1" dirty="0"/>
              <a:t>Урбанизация</a:t>
            </a:r>
            <a:r>
              <a:rPr lang="ru-RU" sz="1900" dirty="0"/>
              <a:t>, а не начисленная зарплата, — главный драйвер цифровизации потребления.</a:t>
            </a:r>
          </a:p>
          <a:p>
            <a:pPr marL="0" indent="0">
              <a:buNone/>
            </a:pPr>
            <a:r>
              <a:rPr lang="ru-RU" sz="1900" b="1" dirty="0"/>
              <a:t>Безналичные траты на разные категории</a:t>
            </a:r>
            <a:r>
              <a:rPr lang="ru-RU" sz="1900" dirty="0"/>
              <a:t> — надёжный поведенческий индикатор благосостояния.</a:t>
            </a:r>
          </a:p>
          <a:p>
            <a:pPr marL="0" indent="0">
              <a:buNone/>
            </a:pPr>
            <a:r>
              <a:rPr lang="ru-RU" sz="1900" b="1" dirty="0"/>
              <a:t>Муниципалитеты среднего размера</a:t>
            </a:r>
            <a:r>
              <a:rPr lang="ru-RU" sz="1900" dirty="0"/>
              <a:t> показывают наибольшую долю безнала — оптимальный баланс доходов и инфраструктуры.</a:t>
            </a:r>
          </a:p>
          <a:p>
            <a:pPr marL="0" indent="0">
              <a:buNone/>
            </a:pPr>
            <a:r>
              <a:rPr lang="ru-RU" sz="1900" b="1" dirty="0"/>
              <a:t>Аномальные случаи</a:t>
            </a:r>
            <a:r>
              <a:rPr lang="ru-RU" sz="1900" dirty="0"/>
              <a:t> демонстрируют, что поведение населения способно опережать экономику и подсказывать скрытые процессы.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Спасибо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Олег Адамович</a:t>
            </a:r>
          </a:p>
          <a:p>
            <a:pPr rtl="0"/>
            <a:r>
              <a:rPr lang="ru-RU" dirty="0"/>
              <a:t>+7-916-875-54-60</a:t>
            </a:r>
          </a:p>
          <a:p>
            <a:pPr rtl="0"/>
            <a:r>
              <a:rPr lang="en-US" dirty="0">
                <a:hlinkClick r:id="rId3"/>
              </a:rPr>
              <a:t>adamovich1986@gmail.com</a:t>
            </a:r>
            <a:endParaRPr lang="ru-RU" dirty="0"/>
          </a:p>
          <a:p>
            <a:r>
              <a:rPr lang="ru-RU" dirty="0"/>
              <a:t>     </a:t>
            </a:r>
            <a:r>
              <a:rPr lang="en-US" dirty="0"/>
              <a:t>@oaadamovich</a:t>
            </a:r>
          </a:p>
          <a:p>
            <a:pPr rtl="0"/>
            <a:endParaRPr lang="ru-RU" dirty="0"/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7E164A2F-ACF2-8644-20D9-5C938028A9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2A0FA6-D26D-8BF7-A52D-E30F7BD95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93" y="5253134"/>
            <a:ext cx="76200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19_TF45331398_Win32" id="{1985D359-9A42-449B-9FEF-EE73ED6449AE}" vid="{2CEC5633-45B8-4D07-A961-F20A3F04FFE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Универсальная презентация</Template>
  <TotalTime>680</TotalTime>
  <Words>856</Words>
  <Application>Microsoft Office PowerPoint</Application>
  <PresentationFormat>Широкоэкранный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Пользовательская</vt:lpstr>
      <vt:lpstr>Муниципальные парадоксы: когда потребление говорит громче зарплат</vt:lpstr>
      <vt:lpstr>Зачем я это исследовал</vt:lpstr>
      <vt:lpstr>Что я использовал</vt:lpstr>
      <vt:lpstr>Как живут и тратят муниципалитеты</vt:lpstr>
      <vt:lpstr>Кто тратит больше, чем зарабатывает</vt:lpstr>
      <vt:lpstr>Социально-экономический контекст</vt:lpstr>
      <vt:lpstr>Три модели потребления</vt:lpstr>
      <vt:lpstr>Когда доход и потребительское поведение не совпадают</vt:lpstr>
      <vt:lpstr>Изменение структуры трат</vt:lpstr>
      <vt:lpstr>Что реально влияет на долю безнала</vt:lpstr>
      <vt:lpstr>Почему это важно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23</cp:revision>
  <dcterms:created xsi:type="dcterms:W3CDTF">2025-11-11T09:23:52Z</dcterms:created>
  <dcterms:modified xsi:type="dcterms:W3CDTF">2025-11-12T08:44:16Z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